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6" roundtripDataSignature="AMtx7mgTVCOQ8iJb9iuuhlUj8AT9Ylvx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6E5601-31B0-4A03-9591-D4316211672D}">
  <a:tblStyle styleId="{406E5601-31B0-4A03-9591-D4316211672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4" name="Google Shape;11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7" name="Google Shape;12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4" name="Google Shape;13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1" name="Google Shape;14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e7f301830_1_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3ae7f301830_1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e7f301830_1_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g3ae7f301830_1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e7f301830_1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2" name="Google Shape;172;g3ae7f301830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e7f301830_1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g3ae7f301830_1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e7f301830_1_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3ae7f301830_1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e7f301830_1_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g3ae7f301830_1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e7f301830_1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ae7f301830_1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6" name="Google Shape;2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3" name="Google Shape;2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7" name="Google Shape;24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5" name="Shape 15"/>
        <p:cNvGrpSpPr/>
        <p:nvPr/>
      </p:nvGrpSpPr>
      <p:grpSpPr>
        <a:xfrm>
          <a:off x="0" y="0"/>
          <a:ext cx="0" cy="0"/>
          <a:chOff x="0" y="0"/>
          <a:chExt cx="0" cy="0"/>
        </a:xfrm>
      </p:grpSpPr>
      <p:sp>
        <p:nvSpPr>
          <p:cNvPr id="16" name="Google Shape;16;p14"/>
          <p:cNvSpPr/>
          <p:nvPr/>
        </p:nvSpPr>
        <p:spPr>
          <a:xfrm>
            <a:off x="3759200" y="0"/>
            <a:ext cx="8432800" cy="685800"/>
          </a:xfrm>
          <a:prstGeom prst="rect">
            <a:avLst/>
          </a:prstGeom>
          <a:solidFill>
            <a:srgbClr val="205867"/>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chemeClr val="lt1"/>
                </a:solidFill>
                <a:latin typeface="Arial"/>
                <a:ea typeface="Arial"/>
                <a:cs typeface="Arial"/>
                <a:sym typeface="Arial"/>
              </a:rPr>
              <a:t>B.Sc. Pre-Defense</a:t>
            </a:r>
            <a:endParaRPr b="1" i="0" sz="1800" u="none" cap="none" strike="noStrike">
              <a:solidFill>
                <a:schemeClr val="lt1"/>
              </a:solidFill>
              <a:latin typeface="Arial"/>
              <a:ea typeface="Arial"/>
              <a:cs typeface="Arial"/>
              <a:sym typeface="Arial"/>
            </a:endParaRPr>
          </a:p>
        </p:txBody>
      </p:sp>
      <p:pic>
        <p:nvPicPr>
          <p:cNvPr id="17" name="Google Shape;17;p14"/>
          <p:cNvPicPr preferRelativeResize="0"/>
          <p:nvPr/>
        </p:nvPicPr>
        <p:blipFill rotWithShape="1">
          <a:blip r:embed="rId2">
            <a:alphaModFix/>
          </a:blip>
          <a:srcRect b="0" l="0" r="0" t="0"/>
          <a:stretch/>
        </p:blipFill>
        <p:spPr>
          <a:xfrm>
            <a:off x="146051" y="76200"/>
            <a:ext cx="2444749" cy="685800"/>
          </a:xfrm>
          <a:prstGeom prst="rect">
            <a:avLst/>
          </a:prstGeom>
          <a:noFill/>
          <a:ln>
            <a:noFill/>
          </a:ln>
        </p:spPr>
      </p:pic>
      <p:sp>
        <p:nvSpPr>
          <p:cNvPr id="18" name="Google Shape;18;p14"/>
          <p:cNvSpPr/>
          <p:nvPr/>
        </p:nvSpPr>
        <p:spPr>
          <a:xfrm>
            <a:off x="3555999" y="3271960"/>
            <a:ext cx="5080000" cy="5334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lt1"/>
                </a:solidFill>
                <a:latin typeface="Arial"/>
                <a:ea typeface="Arial"/>
                <a:cs typeface="Arial"/>
                <a:sym typeface="Arial"/>
              </a:rPr>
              <a:t>Presented by</a:t>
            </a:r>
            <a:endParaRPr/>
          </a:p>
        </p:txBody>
      </p:sp>
      <p:sp>
        <p:nvSpPr>
          <p:cNvPr id="19" name="Google Shape;19;p14"/>
          <p:cNvSpPr txBox="1"/>
          <p:nvPr>
            <p:ph type="ctrTitle"/>
          </p:nvPr>
        </p:nvSpPr>
        <p:spPr>
          <a:xfrm>
            <a:off x="914400" y="1143000"/>
            <a:ext cx="10363200" cy="1752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17365D"/>
              </a:buClr>
              <a:buSzPts val="4400"/>
              <a:buFont typeface="Calibri"/>
              <a:buNone/>
              <a:defRPr b="1">
                <a:solidFill>
                  <a:srgbClr val="17365D"/>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4"/>
          <p:cNvSpPr txBox="1"/>
          <p:nvPr>
            <p:ph idx="1" type="subTitle"/>
          </p:nvPr>
        </p:nvSpPr>
        <p:spPr>
          <a:xfrm>
            <a:off x="3102707" y="3959471"/>
            <a:ext cx="5986585" cy="2209800"/>
          </a:xfrm>
          <a:prstGeom prst="rect">
            <a:avLst/>
          </a:prstGeom>
          <a:noFill/>
          <a:ln>
            <a:noFill/>
          </a:ln>
        </p:spPr>
        <p:txBody>
          <a:bodyPr anchorCtr="0" anchor="t" bIns="45700" lIns="91425" spcFirstLastPara="1" rIns="91425" wrap="square" tIns="45700">
            <a:normAutofit/>
          </a:bodyPr>
          <a:lstStyle>
            <a:lvl1pPr lvl="0" algn="ctr">
              <a:spcBef>
                <a:spcPts val="540"/>
              </a:spcBef>
              <a:spcAft>
                <a:spcPts val="0"/>
              </a:spcAft>
              <a:buClr>
                <a:srgbClr val="366092"/>
              </a:buClr>
              <a:buSzPts val="2700"/>
              <a:buNone/>
              <a:defRPr sz="2700">
                <a:solidFill>
                  <a:srgbClr val="366092"/>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1" name="Google Shape;21;p1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4" name="Shape 24"/>
        <p:cNvGrpSpPr/>
        <p:nvPr/>
      </p:nvGrpSpPr>
      <p:grpSpPr>
        <a:xfrm>
          <a:off x="0" y="0"/>
          <a:ext cx="0" cy="0"/>
          <a:chOff x="0" y="0"/>
          <a:chExt cx="0" cy="0"/>
        </a:xfrm>
      </p:grpSpPr>
      <p:sp>
        <p:nvSpPr>
          <p:cNvPr id="25" name="Google Shape;25;p15"/>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 name="Google Shape;26;p1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66092"/>
              </a:buClr>
              <a:buSzPts val="4400"/>
              <a:buFont typeface="Calibri"/>
              <a:buNone/>
              <a:defRPr b="1">
                <a:solidFill>
                  <a:srgbClr val="36609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366092"/>
              </a:buClr>
              <a:buSzPts val="3200"/>
              <a:buChar char="•"/>
              <a:defRPr>
                <a:solidFill>
                  <a:srgbClr val="366092"/>
                </a:solidFill>
              </a:defRPr>
            </a:lvl1pPr>
            <a:lvl2pPr indent="-406400" lvl="1" marL="914400" algn="l">
              <a:spcBef>
                <a:spcPts val="560"/>
              </a:spcBef>
              <a:spcAft>
                <a:spcPts val="0"/>
              </a:spcAft>
              <a:buClr>
                <a:srgbClr val="31859B"/>
              </a:buClr>
              <a:buSzPts val="2800"/>
              <a:buChar char="–"/>
              <a:defRPr>
                <a:solidFill>
                  <a:srgbClr val="31859B"/>
                </a:solidFill>
              </a:defRPr>
            </a:lvl2pPr>
            <a:lvl3pPr indent="-381000" lvl="2" marL="1371600" algn="l">
              <a:spcBef>
                <a:spcPts val="480"/>
              </a:spcBef>
              <a:spcAft>
                <a:spcPts val="0"/>
              </a:spcAft>
              <a:buClr>
                <a:srgbClr val="953734"/>
              </a:buClr>
              <a:buSzPts val="2400"/>
              <a:buChar char="•"/>
              <a:defRPr>
                <a:solidFill>
                  <a:srgbClr val="953734"/>
                </a:solidFill>
              </a:defRPr>
            </a:lvl3pPr>
            <a:lvl4pPr indent="-355600" lvl="3" marL="1828800" algn="l">
              <a:spcBef>
                <a:spcPts val="400"/>
              </a:spcBef>
              <a:spcAft>
                <a:spcPts val="0"/>
              </a:spcAft>
              <a:buClr>
                <a:srgbClr val="E36C09"/>
              </a:buClr>
              <a:buSzPts val="2000"/>
              <a:buChar char="–"/>
              <a:defRPr>
                <a:solidFill>
                  <a:srgbClr val="E36C09"/>
                </a:solidFill>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1" name="Google Shape;31;p15"/>
          <p:cNvPicPr preferRelativeResize="0"/>
          <p:nvPr/>
        </p:nvPicPr>
        <p:blipFill rotWithShape="1">
          <a:blip r:embed="rId2">
            <a:alphaModFix/>
          </a:blip>
          <a:srcRect b="0" l="0" r="0" t="0"/>
          <a:stretch/>
        </p:blipFill>
        <p:spPr>
          <a:xfrm>
            <a:off x="609600" y="6356351"/>
            <a:ext cx="1538817" cy="471487"/>
          </a:xfrm>
          <a:prstGeom prst="rect">
            <a:avLst/>
          </a:prstGeom>
          <a:noFill/>
          <a:ln>
            <a:noFill/>
          </a:ln>
        </p:spPr>
      </p:pic>
      <p:sp>
        <p:nvSpPr>
          <p:cNvPr id="32" name="Google Shape;32;p15"/>
          <p:cNvSpPr/>
          <p:nvPr/>
        </p:nvSpPr>
        <p:spPr>
          <a:xfrm>
            <a:off x="2336801" y="6356351"/>
            <a:ext cx="9842500" cy="46525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chemeClr val="lt1"/>
                </a:solidFill>
                <a:latin typeface="Arial"/>
                <a:ea typeface="Arial"/>
                <a:cs typeface="Arial"/>
                <a:sym typeface="Arial"/>
              </a:rPr>
              <a:t>B.Sc. Pre-Defense</a:t>
            </a:r>
            <a:endParaRPr b="1" i="0" sz="1800" u="none" cap="none" strike="noStrike">
              <a:solidFill>
                <a:schemeClr val="lt1"/>
              </a:solidFill>
              <a:latin typeface="Arial"/>
              <a:ea typeface="Arial"/>
              <a:cs typeface="Arial"/>
              <a:sym typeface="Arial"/>
            </a:endParaRPr>
          </a:p>
        </p:txBody>
      </p:sp>
      <p:sp>
        <p:nvSpPr>
          <p:cNvPr id="33" name="Google Shape;33;p15"/>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16"/>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6"/>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7" name="Google Shape;37;p1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1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3" name="Google Shape;43;p1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18"/>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8"/>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9" name="Google Shape;49;p18"/>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8"/>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19"/>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9"/>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5" name="Google Shape;55;p19"/>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19"/>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2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0"/>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2" name="Google Shape;62;p20"/>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3" name="Google Shape;63;p20"/>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4" name="Google Shape;64;p20"/>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5" name="Google Shape;65;p2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2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2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23"/>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3"/>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0" name="Google Shape;80;p23"/>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1" name="Google Shape;81;p2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24"/>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4"/>
          <p:cNvSpPr/>
          <p:nvPr>
            <p:ph idx="2" type="pic"/>
          </p:nvPr>
        </p:nvSpPr>
        <p:spPr>
          <a:xfrm>
            <a:off x="2389717" y="612775"/>
            <a:ext cx="7315200" cy="4114800"/>
          </a:xfrm>
          <a:prstGeom prst="rect">
            <a:avLst/>
          </a:prstGeom>
          <a:noFill/>
          <a:ln>
            <a:noFill/>
          </a:ln>
        </p:spPr>
      </p:sp>
      <p:sp>
        <p:nvSpPr>
          <p:cNvPr id="87" name="Google Shape;87;p24"/>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8" name="Google Shape;88;p2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1" name="Shape 91"/>
        <p:cNvGrpSpPr/>
        <p:nvPr/>
      </p:nvGrpSpPr>
      <p:grpSpPr>
        <a:xfrm>
          <a:off x="0" y="0"/>
          <a:ext cx="0" cy="0"/>
          <a:chOff x="0" y="0"/>
          <a:chExt cx="0" cy="0"/>
        </a:xfrm>
      </p:grpSpPr>
      <p:sp>
        <p:nvSpPr>
          <p:cNvPr id="92" name="Google Shape;92;p2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5"/>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2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7" name="Shape 97"/>
        <p:cNvGrpSpPr/>
        <p:nvPr/>
      </p:nvGrpSpPr>
      <p:grpSpPr>
        <a:xfrm>
          <a:off x="0" y="0"/>
          <a:ext cx="0" cy="0"/>
          <a:chOff x="0" y="0"/>
          <a:chExt cx="0" cy="0"/>
        </a:xfrm>
      </p:grpSpPr>
      <p:sp>
        <p:nvSpPr>
          <p:cNvPr id="98" name="Google Shape;98;p26"/>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26"/>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0" name="Google Shape;100;p2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03" name="Shape 103"/>
        <p:cNvGrpSpPr/>
        <p:nvPr/>
      </p:nvGrpSpPr>
      <p:grpSpPr>
        <a:xfrm>
          <a:off x="0" y="0"/>
          <a:ext cx="0" cy="0"/>
          <a:chOff x="0" y="0"/>
          <a:chExt cx="0" cy="0"/>
        </a:xfrm>
      </p:grpSpPr>
      <p:pic>
        <p:nvPicPr>
          <p:cNvPr id="104" name="Google Shape;104;p27"/>
          <p:cNvPicPr preferRelativeResize="0"/>
          <p:nvPr/>
        </p:nvPicPr>
        <p:blipFill rotWithShape="1">
          <a:blip r:embed="rId2">
            <a:alphaModFix/>
          </a:blip>
          <a:srcRect b="0" l="0" r="0" t="0"/>
          <a:stretch/>
        </p:blipFill>
        <p:spPr>
          <a:xfrm>
            <a:off x="304801" y="5943600"/>
            <a:ext cx="1538817" cy="304800"/>
          </a:xfrm>
          <a:prstGeom prst="rect">
            <a:avLst/>
          </a:prstGeom>
          <a:noFill/>
          <a:ln>
            <a:noFill/>
          </a:ln>
        </p:spPr>
      </p:pic>
      <p:sp>
        <p:nvSpPr>
          <p:cNvPr id="105" name="Google Shape;105;p27"/>
          <p:cNvSpPr/>
          <p:nvPr/>
        </p:nvSpPr>
        <p:spPr>
          <a:xfrm>
            <a:off x="2336801" y="5943600"/>
            <a:ext cx="9842500" cy="3810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r">
              <a:spcBef>
                <a:spcPts val="0"/>
              </a:spcBef>
              <a:spcAft>
                <a:spcPts val="0"/>
              </a:spcAft>
              <a:buNone/>
            </a:pPr>
            <a:r>
              <a:rPr b="1" i="0" lang="en-US" sz="2000" u="none" cap="none" strike="noStrike">
                <a:solidFill>
                  <a:schemeClr val="lt1"/>
                </a:solidFill>
                <a:latin typeface="Arial"/>
                <a:ea typeface="Arial"/>
                <a:cs typeface="Arial"/>
                <a:sym typeface="Arial"/>
              </a:rPr>
              <a:t>Final Year Defense</a:t>
            </a:r>
            <a:endParaRPr b="1" i="0" sz="1800" u="none" cap="none" strike="noStrike">
              <a:solidFill>
                <a:schemeClr val="lt1"/>
              </a:solidFill>
              <a:latin typeface="Arial"/>
              <a:ea typeface="Arial"/>
              <a:cs typeface="Arial"/>
              <a:sym typeface="Arial"/>
            </a:endParaRPr>
          </a:p>
        </p:txBody>
      </p:sp>
      <p:sp>
        <p:nvSpPr>
          <p:cNvPr id="106" name="Google Shape;106;p27"/>
          <p:cNvSpPr/>
          <p:nvPr/>
        </p:nvSpPr>
        <p:spPr>
          <a:xfrm>
            <a:off x="0" y="0"/>
            <a:ext cx="12192000" cy="2286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7" name="Google Shape;107;p2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366092"/>
              </a:buClr>
              <a:buSzPts val="4400"/>
              <a:buFont typeface="Calibri"/>
              <a:buNone/>
              <a:defRPr b="1">
                <a:solidFill>
                  <a:srgbClr val="36609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7"/>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366092"/>
              </a:buClr>
              <a:buSzPts val="3200"/>
              <a:buChar char="•"/>
              <a:defRPr>
                <a:solidFill>
                  <a:srgbClr val="366092"/>
                </a:solidFill>
              </a:defRPr>
            </a:lvl1pPr>
            <a:lvl2pPr indent="-406400" lvl="1" marL="914400" algn="l">
              <a:spcBef>
                <a:spcPts val="560"/>
              </a:spcBef>
              <a:spcAft>
                <a:spcPts val="0"/>
              </a:spcAft>
              <a:buClr>
                <a:srgbClr val="31859B"/>
              </a:buClr>
              <a:buSzPts val="2800"/>
              <a:buChar char="–"/>
              <a:defRPr>
                <a:solidFill>
                  <a:srgbClr val="31859B"/>
                </a:solidFill>
              </a:defRPr>
            </a:lvl2pPr>
            <a:lvl3pPr indent="-381000" lvl="2" marL="1371600" algn="l">
              <a:spcBef>
                <a:spcPts val="480"/>
              </a:spcBef>
              <a:spcAft>
                <a:spcPts val="0"/>
              </a:spcAft>
              <a:buClr>
                <a:srgbClr val="953734"/>
              </a:buClr>
              <a:buSzPts val="2400"/>
              <a:buChar char="•"/>
              <a:defRPr>
                <a:solidFill>
                  <a:srgbClr val="953734"/>
                </a:solidFill>
              </a:defRPr>
            </a:lvl3pPr>
            <a:lvl4pPr indent="-355600" lvl="3" marL="1828800" algn="l">
              <a:spcBef>
                <a:spcPts val="400"/>
              </a:spcBef>
              <a:spcAft>
                <a:spcPts val="0"/>
              </a:spcAft>
              <a:buClr>
                <a:srgbClr val="E36C09"/>
              </a:buClr>
              <a:buSzPts val="2000"/>
              <a:buChar char="–"/>
              <a:defRPr>
                <a:solidFill>
                  <a:srgbClr val="E36C09"/>
                </a:solidFill>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27"/>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7"/>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3"/>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ph type="ctrTitle"/>
          </p:nvPr>
        </p:nvSpPr>
        <p:spPr>
          <a:xfrm>
            <a:off x="914400" y="1143000"/>
            <a:ext cx="10363200" cy="1752600"/>
          </a:xfrm>
          <a:prstGeom prst="rect">
            <a:avLst/>
          </a:prstGeom>
          <a:noFill/>
          <a:ln>
            <a:noFill/>
          </a:ln>
        </p:spPr>
        <p:txBody>
          <a:bodyPr anchorCtr="0" anchor="ctr" bIns="45700" lIns="91425" spcFirstLastPara="1" rIns="91425" wrap="square" tIns="45700">
            <a:noAutofit/>
          </a:bodyPr>
          <a:lstStyle/>
          <a:p>
            <a:pPr indent="0" lvl="0" marL="0" rtl="0" algn="ctr">
              <a:lnSpc>
                <a:spcPct val="120000"/>
              </a:lnSpc>
              <a:spcBef>
                <a:spcPts val="1200"/>
              </a:spcBef>
              <a:spcAft>
                <a:spcPts val="1200"/>
              </a:spcAft>
              <a:buClr>
                <a:schemeClr val="dk1"/>
              </a:buClr>
              <a:buSzPts val="1100"/>
              <a:buFont typeface="Arial"/>
              <a:buNone/>
            </a:pPr>
            <a:r>
              <a:rPr lang="en-US" sz="3300">
                <a:solidFill>
                  <a:srgbClr val="7030A0"/>
                </a:solidFill>
              </a:rPr>
              <a:t>EthosAgentAI: An Ethical, Multi-Model Agentic AI Ecosystem for Fair Hiring and Intelligent Skill Development Aligned with SDG 8 and SDG 9</a:t>
            </a:r>
            <a:endParaRPr sz="3300">
              <a:solidFill>
                <a:srgbClr val="7030A0"/>
              </a:solidFill>
            </a:endParaRPr>
          </a:p>
        </p:txBody>
      </p:sp>
      <p:sp>
        <p:nvSpPr>
          <p:cNvPr id="117" name="Google Shape;117;p1"/>
          <p:cNvSpPr txBox="1"/>
          <p:nvPr>
            <p:ph idx="1" type="subTitle"/>
          </p:nvPr>
        </p:nvSpPr>
        <p:spPr>
          <a:xfrm>
            <a:off x="3695700" y="3973399"/>
            <a:ext cx="4800600" cy="2438400"/>
          </a:xfrm>
          <a:prstGeom prst="rect">
            <a:avLst/>
          </a:prstGeom>
          <a:no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chemeClr val="dk1"/>
              </a:buClr>
              <a:buSzPts val="2200"/>
              <a:buNone/>
            </a:pPr>
            <a:r>
              <a:rPr b="1" lang="en-US" sz="2200">
                <a:solidFill>
                  <a:schemeClr val="dk1"/>
                </a:solidFill>
                <a:latin typeface="Times New Roman"/>
                <a:ea typeface="Times New Roman"/>
                <a:cs typeface="Times New Roman"/>
                <a:sym typeface="Times New Roman"/>
              </a:rPr>
              <a:t>Dipro Paul</a:t>
            </a:r>
            <a:endParaRPr/>
          </a:p>
          <a:p>
            <a:pPr indent="0" lvl="0" marL="0" rtl="0" algn="ctr">
              <a:spcBef>
                <a:spcPts val="440"/>
              </a:spcBef>
              <a:spcAft>
                <a:spcPts val="0"/>
              </a:spcAft>
              <a:buClr>
                <a:schemeClr val="dk1"/>
              </a:buClr>
              <a:buSzPts val="2200"/>
              <a:buNone/>
            </a:pPr>
            <a:r>
              <a:rPr b="1" lang="en-US" sz="2200">
                <a:solidFill>
                  <a:schemeClr val="dk1"/>
                </a:solidFill>
                <a:latin typeface="Times New Roman"/>
                <a:ea typeface="Times New Roman"/>
                <a:cs typeface="Times New Roman"/>
                <a:sym typeface="Times New Roman"/>
              </a:rPr>
              <a:t>ID : </a:t>
            </a:r>
            <a:r>
              <a:rPr lang="en-US" sz="2200">
                <a:solidFill>
                  <a:schemeClr val="dk1"/>
                </a:solidFill>
                <a:latin typeface="Times New Roman"/>
                <a:ea typeface="Times New Roman"/>
                <a:cs typeface="Times New Roman"/>
                <a:sym typeface="Times New Roman"/>
              </a:rPr>
              <a:t>221-15-5666</a:t>
            </a:r>
            <a:endParaRPr/>
          </a:p>
          <a:p>
            <a:pPr indent="0" lvl="0" marL="0" rtl="0" algn="ctr">
              <a:spcBef>
                <a:spcPts val="440"/>
              </a:spcBef>
              <a:spcAft>
                <a:spcPts val="0"/>
              </a:spcAft>
              <a:buClr>
                <a:schemeClr val="dk1"/>
              </a:buClr>
              <a:buSzPts val="2200"/>
              <a:buNone/>
            </a:pPr>
            <a:r>
              <a:rPr b="1" lang="en-US" sz="2200">
                <a:solidFill>
                  <a:schemeClr val="dk1"/>
                </a:solidFill>
                <a:latin typeface="Times New Roman"/>
                <a:ea typeface="Times New Roman"/>
                <a:cs typeface="Times New Roman"/>
                <a:sym typeface="Times New Roman"/>
              </a:rPr>
              <a:t>Department : </a:t>
            </a:r>
            <a:r>
              <a:rPr lang="en-US" sz="2200">
                <a:solidFill>
                  <a:schemeClr val="dk1"/>
                </a:solidFill>
                <a:latin typeface="Times New Roman"/>
                <a:ea typeface="Times New Roman"/>
                <a:cs typeface="Times New Roman"/>
                <a:sym typeface="Times New Roman"/>
              </a:rPr>
              <a:t>CSE</a:t>
            </a:r>
            <a:endParaRPr/>
          </a:p>
          <a:p>
            <a:pPr indent="0" lvl="0" marL="0" rtl="0" algn="ctr">
              <a:spcBef>
                <a:spcPts val="440"/>
              </a:spcBef>
              <a:spcAft>
                <a:spcPts val="0"/>
              </a:spcAft>
              <a:buClr>
                <a:schemeClr val="dk1"/>
              </a:buClr>
              <a:buSzPts val="2200"/>
              <a:buNone/>
            </a:pPr>
            <a:r>
              <a:rPr lang="en-US" sz="2200">
                <a:solidFill>
                  <a:schemeClr val="dk1"/>
                </a:solidFill>
                <a:latin typeface="Times New Roman"/>
                <a:ea typeface="Times New Roman"/>
                <a:cs typeface="Times New Roman"/>
                <a:sym typeface="Times New Roman"/>
              </a:rPr>
              <a:t>Daffodil International University</a:t>
            </a:r>
            <a:endParaRPr/>
          </a:p>
          <a:p>
            <a:pPr indent="0" lvl="0" marL="0" rtl="0" algn="ctr">
              <a:spcBef>
                <a:spcPts val="560"/>
              </a:spcBef>
              <a:spcAft>
                <a:spcPts val="0"/>
              </a:spcAft>
              <a:buClr>
                <a:srgbClr val="366092"/>
              </a:buClr>
              <a:buSzPts val="2800"/>
              <a:buNone/>
            </a:pPr>
            <a:r>
              <a:t/>
            </a:r>
            <a:endParaRPr sz="2800">
              <a:solidFill>
                <a:schemeClr val="dk1"/>
              </a:solidFill>
              <a:latin typeface="Times New Roman"/>
              <a:ea typeface="Times New Roman"/>
              <a:cs typeface="Times New Roman"/>
              <a:sym typeface="Times New Roman"/>
            </a:endParaRPr>
          </a:p>
          <a:p>
            <a:pPr indent="0" lvl="0" marL="0" rtl="0" algn="ctr">
              <a:spcBef>
                <a:spcPts val="540"/>
              </a:spcBef>
              <a:spcAft>
                <a:spcPts val="0"/>
              </a:spcAft>
              <a:buClr>
                <a:srgbClr val="366092"/>
              </a:buClr>
              <a:buSzPts val="27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Outline</a:t>
            </a:r>
            <a:endParaRPr>
              <a:solidFill>
                <a:srgbClr val="7030A0"/>
              </a:solidFill>
            </a:endParaRPr>
          </a:p>
        </p:txBody>
      </p:sp>
      <p:sp>
        <p:nvSpPr>
          <p:cNvPr id="123" name="Google Shape;123;p2"/>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Introduction</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Objective</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Background Study</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Gap Analysis</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Methodology</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Results &amp; Analysis</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Novelty of the Work</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Conclusion</a:t>
            </a:r>
            <a:endParaRPr/>
          </a:p>
          <a:p>
            <a:pPr indent="-342900" lvl="0" marL="342900" rtl="0" algn="l">
              <a:spcBef>
                <a:spcPts val="440"/>
              </a:spcBef>
              <a:spcAft>
                <a:spcPts val="0"/>
              </a:spcAft>
              <a:buClr>
                <a:schemeClr val="dk1"/>
              </a:buClr>
              <a:buSzPts val="2200"/>
              <a:buFont typeface="Noto Sans Symbols"/>
              <a:buChar char="⮚"/>
            </a:pPr>
            <a:r>
              <a:rPr lang="en-US" sz="2200">
                <a:solidFill>
                  <a:schemeClr val="dk1"/>
                </a:solidFill>
                <a:latin typeface="Times New Roman"/>
                <a:ea typeface="Times New Roman"/>
                <a:cs typeface="Times New Roman"/>
                <a:sym typeface="Times New Roman"/>
              </a:rPr>
              <a:t>References</a:t>
            </a:r>
            <a:endParaRPr/>
          </a:p>
          <a:p>
            <a:pPr indent="-342900" lvl="0" marL="342900" rtl="0" algn="l">
              <a:spcBef>
                <a:spcPts val="640"/>
              </a:spcBef>
              <a:spcAft>
                <a:spcPts val="0"/>
              </a:spcAft>
              <a:buClr>
                <a:srgbClr val="366092"/>
              </a:buClr>
              <a:buSzPts val="3200"/>
              <a:buNone/>
            </a:pPr>
            <a:r>
              <a:t/>
            </a:r>
            <a:endParaRPr/>
          </a:p>
        </p:txBody>
      </p:sp>
      <p:sp>
        <p:nvSpPr>
          <p:cNvPr id="124" name="Google Shape;124;p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Introduction</a:t>
            </a:r>
            <a:endParaRPr>
              <a:solidFill>
                <a:srgbClr val="7030A0"/>
              </a:solidFill>
            </a:endParaRPr>
          </a:p>
        </p:txBody>
      </p:sp>
      <p:sp>
        <p:nvSpPr>
          <p:cNvPr id="130" name="Google Shape;130;p3"/>
          <p:cNvSpPr txBox="1"/>
          <p:nvPr>
            <p:ph idx="1" type="body"/>
          </p:nvPr>
        </p:nvSpPr>
        <p:spPr>
          <a:xfrm>
            <a:off x="609600" y="1337675"/>
            <a:ext cx="11011800" cy="43011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20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Every year, thousands of Bangladeshi graduates enter the job market with hope but face unclear job requirements, biased screening, difficult online interviews </a:t>
            </a:r>
            <a:r>
              <a:rPr lang="en-US" sz="1700">
                <a:solidFill>
                  <a:schemeClr val="dk1"/>
                </a:solidFill>
                <a:latin typeface="Times New Roman"/>
                <a:ea typeface="Times New Roman"/>
                <a:cs typeface="Times New Roman"/>
                <a:sym typeface="Times New Roman"/>
              </a:rPr>
              <a:t>and </a:t>
            </a:r>
            <a:r>
              <a:rPr lang="en-US" sz="1700">
                <a:solidFill>
                  <a:schemeClr val="dk1"/>
                </a:solidFill>
                <a:latin typeface="Times New Roman"/>
                <a:ea typeface="Times New Roman"/>
                <a:cs typeface="Times New Roman"/>
                <a:sym typeface="Times New Roman"/>
              </a:rPr>
              <a:t>Personalized coach. Recruiters also struggle with huge applicant volumes and rising interview fraud.Seeing these real challenges inside DIU and my office, I asked: “Can we build an AI system that helps both students and recruiters fairly, transparently, and intelligently?”Under the supervision of Dr. S. M. Aminul Haque, I developed EthosAgentAI end-to-end AI ecosystem combining job matching, resume screening, personalised roadmaps, and real-time interview integrity. Now, it is ready to integrated into the Daffodil Career Hub to support fresh graduates as well as  industry.</a:t>
            </a:r>
            <a:endParaRPr sz="1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Clr>
                <a:srgbClr val="366092"/>
              </a:buClr>
              <a:buSzPts val="3000"/>
              <a:buNone/>
            </a:pPr>
            <a:r>
              <a:t/>
            </a:r>
            <a:endParaRPr sz="1700">
              <a:solidFill>
                <a:schemeClr val="dk1"/>
              </a:solidFill>
              <a:latin typeface="Times New Roman"/>
              <a:ea typeface="Times New Roman"/>
              <a:cs typeface="Times New Roman"/>
              <a:sym typeface="Times New Roman"/>
            </a:endParaRPr>
          </a:p>
        </p:txBody>
      </p:sp>
      <p:sp>
        <p:nvSpPr>
          <p:cNvPr id="131" name="Google Shape;131;p3"/>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Objective</a:t>
            </a:r>
            <a:endParaRPr>
              <a:solidFill>
                <a:srgbClr val="7030A0"/>
              </a:solidFill>
            </a:endParaRPr>
          </a:p>
        </p:txBody>
      </p:sp>
      <p:sp>
        <p:nvSpPr>
          <p:cNvPr id="137" name="Google Shape;137;p4"/>
          <p:cNvSpPr txBox="1"/>
          <p:nvPr>
            <p:ph idx="1" type="body"/>
          </p:nvPr>
        </p:nvSpPr>
        <p:spPr>
          <a:xfrm>
            <a:off x="609600" y="1215225"/>
            <a:ext cx="10972800" cy="47574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120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design and develop a unified multi-agent AI framework capable of supporting end-to-end hiring and personalized career intelligent workflows.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implement semantic job-matching mechanisms with explainable and transparent decision-making.</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develop an intelligent resume-screening module utilizing RAG, adaptive scoring, and structured evaluation criteria.</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identify candidate skill gaps and generate personalised, data-driven learning roadmaps.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implement real-time interview integrity monitoring using MediaPipe, OpenCV, OCR, and vision-based detection models.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integrate a personalised AI career-assistant chatbot for continuous guidance and interaction.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achieve robust system performance, targeting ≥85% accuracy in resume screening and 95–100% accuracy in interview-integrity detection.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To ensure that the system aligns with SDG 8 (Decent Work and Economic Growth) and SDG 9 (Industry, Innovation and Infrastructure), supporting sustainable and ethical recruitment practices.</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0" rtl="0" algn="just">
              <a:spcBef>
                <a:spcPts val="1200"/>
              </a:spcBef>
              <a:spcAft>
                <a:spcPts val="0"/>
              </a:spcAft>
              <a:buClr>
                <a:srgbClr val="366092"/>
              </a:buClr>
              <a:buSzPts val="3000"/>
              <a:buNone/>
            </a:pPr>
            <a:r>
              <a:t/>
            </a:r>
            <a:endParaRPr sz="1800">
              <a:solidFill>
                <a:schemeClr val="dk1"/>
              </a:solidFill>
              <a:latin typeface="Times New Roman"/>
              <a:ea typeface="Times New Roman"/>
              <a:cs typeface="Times New Roman"/>
              <a:sym typeface="Times New Roman"/>
            </a:endParaRPr>
          </a:p>
        </p:txBody>
      </p:sp>
      <p:sp>
        <p:nvSpPr>
          <p:cNvPr id="138" name="Google Shape;138;p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Background Study</a:t>
            </a:r>
            <a:endParaRPr>
              <a:solidFill>
                <a:srgbClr val="7030A0"/>
              </a:solidFill>
            </a:endParaRPr>
          </a:p>
        </p:txBody>
      </p:sp>
      <p:sp>
        <p:nvSpPr>
          <p:cNvPr id="144" name="Google Shape;144;p5"/>
          <p:cNvSpPr txBox="1"/>
          <p:nvPr>
            <p:ph idx="1" type="body"/>
          </p:nvPr>
        </p:nvSpPr>
        <p:spPr>
          <a:xfrm>
            <a:off x="609600" y="1329700"/>
            <a:ext cx="10972800" cy="4824300"/>
          </a:xfrm>
          <a:prstGeom prst="rect">
            <a:avLst/>
          </a:prstGeom>
          <a:noFill/>
          <a:ln>
            <a:noFill/>
          </a:ln>
        </p:spPr>
        <p:txBody>
          <a:bodyPr anchorCtr="0" anchor="t" bIns="45700" lIns="91425" spcFirstLastPara="1" rIns="91425" wrap="square" tIns="45700">
            <a:normAutofit/>
          </a:bodyPr>
          <a:lstStyle/>
          <a:p>
            <a:pPr indent="-393700" lvl="0" marL="457200" rtl="0" algn="l">
              <a:spcBef>
                <a:spcPts val="0"/>
              </a:spcBef>
              <a:spcAft>
                <a:spcPts val="0"/>
              </a:spcAft>
              <a:buClr>
                <a:schemeClr val="dk1"/>
              </a:buClr>
              <a:buSzPts val="2600"/>
              <a:buFont typeface="Times New Roman"/>
              <a:buChar char="•"/>
            </a:pPr>
            <a:r>
              <a:rPr lang="en-US" sz="1700">
                <a:solidFill>
                  <a:schemeClr val="dk1"/>
                </a:solidFill>
                <a:latin typeface="Times New Roman"/>
                <a:ea typeface="Times New Roman"/>
                <a:cs typeface="Times New Roman"/>
                <a:sym typeface="Times New Roman"/>
              </a:rPr>
              <a:t>Recruitment processes are increasingly digital, yet face challenges such as bias, inefficiency, and online interview fraud.</a:t>
            </a:r>
            <a:endParaRPr sz="1700">
              <a:solidFill>
                <a:schemeClr val="dk1"/>
              </a:solidFill>
              <a:latin typeface="Times New Roman"/>
              <a:ea typeface="Times New Roman"/>
              <a:cs typeface="Times New Roman"/>
              <a:sym typeface="Times New Roman"/>
            </a:endParaRPr>
          </a:p>
          <a:p>
            <a:pPr indent="-393700" lvl="0" marL="457200" rtl="0" algn="l">
              <a:spcBef>
                <a:spcPts val="0"/>
              </a:spcBef>
              <a:spcAft>
                <a:spcPts val="0"/>
              </a:spcAft>
              <a:buClr>
                <a:schemeClr val="dk1"/>
              </a:buClr>
              <a:buSzPts val="2600"/>
              <a:buFont typeface="Times New Roman"/>
              <a:buChar char="•"/>
            </a:pPr>
            <a:r>
              <a:rPr lang="en-US" sz="1700">
                <a:solidFill>
                  <a:schemeClr val="dk1"/>
                </a:solidFill>
                <a:latin typeface="Times New Roman"/>
                <a:ea typeface="Times New Roman"/>
                <a:cs typeface="Times New Roman"/>
                <a:sym typeface="Times New Roman"/>
              </a:rPr>
              <a:t>Job seekers often struggle with skill gaps and lack guidance to improve employability.</a:t>
            </a:r>
            <a:endParaRPr sz="1700">
              <a:solidFill>
                <a:schemeClr val="dk1"/>
              </a:solidFill>
              <a:latin typeface="Times New Roman"/>
              <a:ea typeface="Times New Roman"/>
              <a:cs typeface="Times New Roman"/>
              <a:sym typeface="Times New Roman"/>
            </a:endParaRPr>
          </a:p>
          <a:p>
            <a:pPr indent="-393700" lvl="0" marL="457200" rtl="0" algn="l">
              <a:spcBef>
                <a:spcPts val="0"/>
              </a:spcBef>
              <a:spcAft>
                <a:spcPts val="0"/>
              </a:spcAft>
              <a:buClr>
                <a:schemeClr val="dk1"/>
              </a:buClr>
              <a:buSzPts val="2600"/>
              <a:buFont typeface="Times New Roman"/>
              <a:buChar char="•"/>
            </a:pPr>
            <a:r>
              <a:rPr lang="en-US" sz="1700">
                <a:solidFill>
                  <a:schemeClr val="dk1"/>
                </a:solidFill>
                <a:latin typeface="Times New Roman"/>
                <a:ea typeface="Times New Roman"/>
                <a:cs typeface="Times New Roman"/>
                <a:sym typeface="Times New Roman"/>
              </a:rPr>
              <a:t>Recruiters face high applicant volumes, limited time, and manual screening constraints.</a:t>
            </a:r>
            <a:endParaRPr sz="1700">
              <a:solidFill>
                <a:schemeClr val="dk1"/>
              </a:solidFill>
              <a:latin typeface="Times New Roman"/>
              <a:ea typeface="Times New Roman"/>
              <a:cs typeface="Times New Roman"/>
              <a:sym typeface="Times New Roman"/>
            </a:endParaRPr>
          </a:p>
          <a:p>
            <a:pPr indent="-393700" lvl="0" marL="457200" rtl="0" algn="l">
              <a:spcBef>
                <a:spcPts val="0"/>
              </a:spcBef>
              <a:spcAft>
                <a:spcPts val="0"/>
              </a:spcAft>
              <a:buClr>
                <a:schemeClr val="dk1"/>
              </a:buClr>
              <a:buSzPts val="2600"/>
              <a:buFont typeface="Times New Roman"/>
              <a:buChar char="•"/>
            </a:pPr>
            <a:r>
              <a:rPr lang="en-US" sz="1700">
                <a:solidFill>
                  <a:schemeClr val="dk1"/>
                </a:solidFill>
                <a:latin typeface="Times New Roman"/>
                <a:ea typeface="Times New Roman"/>
                <a:cs typeface="Times New Roman"/>
                <a:sym typeface="Times New Roman"/>
              </a:rPr>
              <a:t>Existing systems are often fragmented: some focus only on job matching, others on resume screening, skill-gap analysis, or interview monitoring.</a:t>
            </a:r>
            <a:endParaRPr sz="1700">
              <a:solidFill>
                <a:schemeClr val="dk1"/>
              </a:solidFill>
              <a:latin typeface="Times New Roman"/>
              <a:ea typeface="Times New Roman"/>
              <a:cs typeface="Times New Roman"/>
              <a:sym typeface="Times New Roman"/>
            </a:endParaRPr>
          </a:p>
          <a:p>
            <a:pPr indent="-393700" lvl="0" marL="457200" rtl="0" algn="l">
              <a:spcBef>
                <a:spcPts val="0"/>
              </a:spcBef>
              <a:spcAft>
                <a:spcPts val="0"/>
              </a:spcAft>
              <a:buClr>
                <a:schemeClr val="dk1"/>
              </a:buClr>
              <a:buSzPts val="2600"/>
              <a:buFont typeface="Times New Roman"/>
              <a:buChar char="•"/>
            </a:pPr>
            <a:r>
              <a:rPr lang="en-US" sz="1700">
                <a:solidFill>
                  <a:schemeClr val="dk1"/>
                </a:solidFill>
                <a:latin typeface="Times New Roman"/>
                <a:ea typeface="Times New Roman"/>
                <a:cs typeface="Times New Roman"/>
                <a:sym typeface="Times New Roman"/>
              </a:rPr>
              <a:t>Research shows AI-based solutions (semantic matching, multi-agent screening, RAG, computer vision) can improve fairness, efficiency, and transparency.</a:t>
            </a:r>
            <a:endParaRPr sz="1700">
              <a:solidFill>
                <a:schemeClr val="dk1"/>
              </a:solidFill>
              <a:latin typeface="Times New Roman"/>
              <a:ea typeface="Times New Roman"/>
              <a:cs typeface="Times New Roman"/>
              <a:sym typeface="Times New Roman"/>
            </a:endParaRPr>
          </a:p>
          <a:p>
            <a:pPr indent="-393700" lvl="0" marL="457200" rtl="0" algn="l">
              <a:spcBef>
                <a:spcPts val="0"/>
              </a:spcBef>
              <a:spcAft>
                <a:spcPts val="0"/>
              </a:spcAft>
              <a:buClr>
                <a:schemeClr val="dk1"/>
              </a:buClr>
              <a:buSzPts val="2600"/>
              <a:buChar char="•"/>
            </a:pPr>
            <a:r>
              <a:rPr lang="en-US" sz="1700">
                <a:solidFill>
                  <a:schemeClr val="dk1"/>
                </a:solidFill>
                <a:latin typeface="Times New Roman"/>
                <a:ea typeface="Times New Roman"/>
                <a:cs typeface="Times New Roman"/>
                <a:sym typeface="Times New Roman"/>
              </a:rPr>
              <a:t>In the context of Bangladesh, fresh graduates need personalised guidance aligned with industry expectations, while organizations require scalable and reliable evaluation systems.</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0" lvl="0" marL="0" rtl="0" algn="l">
              <a:spcBef>
                <a:spcPts val="0"/>
              </a:spcBef>
              <a:spcAft>
                <a:spcPts val="0"/>
              </a:spcAft>
              <a:buNone/>
            </a:pPr>
            <a:r>
              <a:rPr lang="en-US" sz="1700">
                <a:solidFill>
                  <a:schemeClr val="dk1"/>
                </a:solidFill>
                <a:latin typeface="Times New Roman"/>
                <a:ea typeface="Times New Roman"/>
                <a:cs typeface="Times New Roman"/>
                <a:sym typeface="Times New Roman"/>
              </a:rPr>
              <a:t>This gap motivates the development of EthosAgentAI, a unified, end-to-end AI recruitment and skill-development ecosystem.</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000">
              <a:solidFill>
                <a:schemeClr val="dk1"/>
              </a:solidFill>
              <a:latin typeface="Times New Roman"/>
              <a:ea typeface="Times New Roman"/>
              <a:cs typeface="Times New Roman"/>
              <a:sym typeface="Times New Roman"/>
            </a:endParaRPr>
          </a:p>
        </p:txBody>
      </p:sp>
      <p:sp>
        <p:nvSpPr>
          <p:cNvPr id="145" name="Google Shape;145;p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Gap Analysis</a:t>
            </a:r>
            <a:endParaRPr>
              <a:solidFill>
                <a:srgbClr val="7030A0"/>
              </a:solidFill>
            </a:endParaRPr>
          </a:p>
        </p:txBody>
      </p:sp>
      <p:sp>
        <p:nvSpPr>
          <p:cNvPr id="151" name="Google Shape;151;p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52" name="Google Shape;152;p6"/>
          <p:cNvGraphicFramePr/>
          <p:nvPr/>
        </p:nvGraphicFramePr>
        <p:xfrm>
          <a:off x="725538" y="1181550"/>
          <a:ext cx="3000000" cy="3000000"/>
        </p:xfrm>
        <a:graphic>
          <a:graphicData uri="http://schemas.openxmlformats.org/drawingml/2006/table">
            <a:tbl>
              <a:tblPr>
                <a:noFill/>
                <a:tableStyleId>{406E5601-31B0-4A03-9591-D4316211672D}</a:tableStyleId>
              </a:tblPr>
              <a:tblGrid>
                <a:gridCol w="3994100"/>
                <a:gridCol w="2419350"/>
                <a:gridCol w="4443400"/>
              </a:tblGrid>
              <a:tr h="200025">
                <a:tc>
                  <a:txBody>
                    <a:bodyPr/>
                    <a:lstStyle/>
                    <a:p>
                      <a:pPr indent="0" lvl="0" marL="0" rtl="0" algn="ctr">
                        <a:lnSpc>
                          <a:spcPct val="115000"/>
                        </a:lnSpc>
                        <a:spcBef>
                          <a:spcPts val="0"/>
                        </a:spcBef>
                        <a:spcAft>
                          <a:spcPts val="0"/>
                        </a:spcAft>
                        <a:buNone/>
                      </a:pPr>
                      <a:r>
                        <a:rPr b="1" lang="en-US">
                          <a:latin typeface="Times New Roman"/>
                          <a:ea typeface="Times New Roman"/>
                          <a:cs typeface="Times New Roman"/>
                          <a:sym typeface="Times New Roman"/>
                        </a:rPr>
                        <a:t>Current Solutions</a:t>
                      </a:r>
                      <a:endParaRPr b="1">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New Roman"/>
                          <a:ea typeface="Times New Roman"/>
                          <a:cs typeface="Times New Roman"/>
                          <a:sym typeface="Times New Roman"/>
                        </a:rPr>
                        <a:t>Identified Gaps</a:t>
                      </a:r>
                      <a:endParaRPr b="1">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latin typeface="Times New Roman"/>
                          <a:ea typeface="Times New Roman"/>
                          <a:cs typeface="Times New Roman"/>
                          <a:sym typeface="Times New Roman"/>
                        </a:rPr>
                        <a:t>EthosAgentAI Innovation</a:t>
                      </a:r>
                      <a:endParaRPr b="1">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0050">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AI tools (HireVue, Eightfold, X0PA) handle isolated tasks like screening or interviews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end-to-end recruitment ecosystem</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Unified 5-layer architecture (Input → Processing → Knowledge → Decision → Output)</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Academic research focuses on single-phase automation</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Lack of full hiring lifecycle automation</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Complete recruitment-to-career pipeline</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90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Black-box AI decision making</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Weak explainability &amp; transparency</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Explainable AI (XAI) &amp; interpretable decisions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90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Biased datasets and biased decision risks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built-in fairness auditing</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Fairness-by-design &amp; bias mitigation framework</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90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real-time interview monitoring</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Interview integrity not ensured</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Hybrid computer vision for real-time fraud detection</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Recruitment systems disconnected from learning platforms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skill-gap to learning roadmap link</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Personalized skill-gap analysis &amp; adaptive learning path</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90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Single-agent or rule-based systems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multi-agent reasoning ecosystem</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Multi-agent system with RAG-enhanced intelligence</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Closed, proprietary platforms</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No open or reproducible research system</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 Open, ethical, and SDG-aligned AI framework</a:t>
                      </a:r>
                      <a:endParaRPr>
                        <a:latin typeface="Times New Roman"/>
                        <a:ea typeface="Times New Roman"/>
                        <a:cs typeface="Times New Roman"/>
                        <a:sym typeface="Times New Roman"/>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ae7f301830_1_9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8" name="Google Shape;158;g3ae7f301830_1_93"/>
          <p:cNvPicPr preferRelativeResize="0"/>
          <p:nvPr/>
        </p:nvPicPr>
        <p:blipFill rotWithShape="1">
          <a:blip r:embed="rId3">
            <a:alphaModFix/>
          </a:blip>
          <a:srcRect b="13103" l="0" r="0" t="0"/>
          <a:stretch/>
        </p:blipFill>
        <p:spPr>
          <a:xfrm>
            <a:off x="2584125" y="1287975"/>
            <a:ext cx="2561650" cy="4426874"/>
          </a:xfrm>
          <a:prstGeom prst="rect">
            <a:avLst/>
          </a:prstGeom>
          <a:noFill/>
          <a:ln>
            <a:noFill/>
          </a:ln>
        </p:spPr>
      </p:pic>
      <p:pic>
        <p:nvPicPr>
          <p:cNvPr id="159" name="Google Shape;159;g3ae7f301830_1_93"/>
          <p:cNvPicPr preferRelativeResize="0"/>
          <p:nvPr/>
        </p:nvPicPr>
        <p:blipFill rotWithShape="1">
          <a:blip r:embed="rId4">
            <a:alphaModFix/>
          </a:blip>
          <a:srcRect b="14354" l="0" r="0" t="0"/>
          <a:stretch/>
        </p:blipFill>
        <p:spPr>
          <a:xfrm>
            <a:off x="7048925" y="1287975"/>
            <a:ext cx="2295450" cy="4543326"/>
          </a:xfrm>
          <a:prstGeom prst="rect">
            <a:avLst/>
          </a:prstGeom>
          <a:noFill/>
          <a:ln>
            <a:noFill/>
          </a:ln>
        </p:spPr>
      </p:pic>
      <p:sp>
        <p:nvSpPr>
          <p:cNvPr id="160" name="Google Shape;160;g3ae7f301830_1_93"/>
          <p:cNvSpPr txBox="1"/>
          <p:nvPr/>
        </p:nvSpPr>
        <p:spPr>
          <a:xfrm>
            <a:off x="1501200" y="173050"/>
            <a:ext cx="91896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400">
                <a:solidFill>
                  <a:srgbClr val="7030A0"/>
                </a:solidFill>
                <a:latin typeface="Times New Roman"/>
                <a:ea typeface="Times New Roman"/>
                <a:cs typeface="Times New Roman"/>
                <a:sym typeface="Times New Roman"/>
              </a:rPr>
              <a:t>Methodology</a:t>
            </a:r>
            <a:endParaRPr b="1" sz="44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(Input Layer)</a:t>
            </a:r>
            <a:endParaRPr b="1">
              <a:solidFill>
                <a:srgbClr val="7030A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ae7f301830_1_6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6" name="Google Shape;166;g3ae7f301830_1_68"/>
          <p:cNvPicPr preferRelativeResize="0"/>
          <p:nvPr/>
        </p:nvPicPr>
        <p:blipFill rotWithShape="1">
          <a:blip r:embed="rId3">
            <a:alphaModFix/>
          </a:blip>
          <a:srcRect b="9788" l="0" r="0" t="0"/>
          <a:stretch/>
        </p:blipFill>
        <p:spPr>
          <a:xfrm>
            <a:off x="243475" y="1026725"/>
            <a:ext cx="3180100" cy="4565349"/>
          </a:xfrm>
          <a:prstGeom prst="rect">
            <a:avLst/>
          </a:prstGeom>
          <a:noFill/>
          <a:ln>
            <a:noFill/>
          </a:ln>
        </p:spPr>
      </p:pic>
      <p:pic>
        <p:nvPicPr>
          <p:cNvPr id="167" name="Google Shape;167;g3ae7f301830_1_68"/>
          <p:cNvPicPr preferRelativeResize="0"/>
          <p:nvPr/>
        </p:nvPicPr>
        <p:blipFill rotWithShape="1">
          <a:blip r:embed="rId4">
            <a:alphaModFix/>
          </a:blip>
          <a:srcRect b="13569" l="0" r="2219" t="0"/>
          <a:stretch/>
        </p:blipFill>
        <p:spPr>
          <a:xfrm>
            <a:off x="3423575" y="1008500"/>
            <a:ext cx="4419574" cy="4565351"/>
          </a:xfrm>
          <a:prstGeom prst="rect">
            <a:avLst/>
          </a:prstGeom>
          <a:noFill/>
          <a:ln>
            <a:noFill/>
          </a:ln>
        </p:spPr>
      </p:pic>
      <p:pic>
        <p:nvPicPr>
          <p:cNvPr id="168" name="Google Shape;168;g3ae7f301830_1_68"/>
          <p:cNvPicPr preferRelativeResize="0"/>
          <p:nvPr/>
        </p:nvPicPr>
        <p:blipFill rotWithShape="1">
          <a:blip r:embed="rId5">
            <a:alphaModFix/>
          </a:blip>
          <a:srcRect b="11870" l="0" r="0" t="0"/>
          <a:stretch/>
        </p:blipFill>
        <p:spPr>
          <a:xfrm>
            <a:off x="8078425" y="1081375"/>
            <a:ext cx="3742599" cy="4419601"/>
          </a:xfrm>
          <a:prstGeom prst="rect">
            <a:avLst/>
          </a:prstGeom>
          <a:noFill/>
          <a:ln>
            <a:noFill/>
          </a:ln>
        </p:spPr>
      </p:pic>
      <p:sp>
        <p:nvSpPr>
          <p:cNvPr id="169" name="Google Shape;169;g3ae7f301830_1_68"/>
          <p:cNvSpPr txBox="1"/>
          <p:nvPr/>
        </p:nvSpPr>
        <p:spPr>
          <a:xfrm>
            <a:off x="2076525" y="100175"/>
            <a:ext cx="84792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400">
                <a:solidFill>
                  <a:srgbClr val="7030A0"/>
                </a:solidFill>
                <a:latin typeface="Times New Roman"/>
                <a:ea typeface="Times New Roman"/>
                <a:cs typeface="Times New Roman"/>
                <a:sym typeface="Times New Roman"/>
              </a:rPr>
              <a:t>Methodology</a:t>
            </a:r>
            <a:endParaRPr b="1" sz="44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(Processing Layer)</a:t>
            </a:r>
            <a:endParaRPr b="1">
              <a:solidFill>
                <a:srgbClr val="7030A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ae7f301830_1_77"/>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5" name="Google Shape;175;g3ae7f301830_1_77"/>
          <p:cNvPicPr preferRelativeResize="0"/>
          <p:nvPr/>
        </p:nvPicPr>
        <p:blipFill rotWithShape="1">
          <a:blip r:embed="rId3">
            <a:alphaModFix/>
          </a:blip>
          <a:srcRect b="14770" l="0" r="0" t="0"/>
          <a:stretch/>
        </p:blipFill>
        <p:spPr>
          <a:xfrm>
            <a:off x="179700" y="1420200"/>
            <a:ext cx="3563500" cy="3831525"/>
          </a:xfrm>
          <a:prstGeom prst="rect">
            <a:avLst/>
          </a:prstGeom>
          <a:noFill/>
          <a:ln>
            <a:noFill/>
          </a:ln>
        </p:spPr>
      </p:pic>
      <p:pic>
        <p:nvPicPr>
          <p:cNvPr id="176" name="Google Shape;176;g3ae7f301830_1_77"/>
          <p:cNvPicPr preferRelativeResize="0"/>
          <p:nvPr/>
        </p:nvPicPr>
        <p:blipFill rotWithShape="1">
          <a:blip r:embed="rId4">
            <a:alphaModFix/>
          </a:blip>
          <a:srcRect b="20508" l="0" r="0" t="0"/>
          <a:stretch/>
        </p:blipFill>
        <p:spPr>
          <a:xfrm>
            <a:off x="3826750" y="1680425"/>
            <a:ext cx="4062175" cy="3311075"/>
          </a:xfrm>
          <a:prstGeom prst="rect">
            <a:avLst/>
          </a:prstGeom>
          <a:noFill/>
          <a:ln>
            <a:noFill/>
          </a:ln>
        </p:spPr>
      </p:pic>
      <p:pic>
        <p:nvPicPr>
          <p:cNvPr id="177" name="Google Shape;177;g3ae7f301830_1_77"/>
          <p:cNvPicPr preferRelativeResize="0"/>
          <p:nvPr/>
        </p:nvPicPr>
        <p:blipFill rotWithShape="1">
          <a:blip r:embed="rId5">
            <a:alphaModFix/>
          </a:blip>
          <a:srcRect b="20390" l="814" r="1069" t="1422"/>
          <a:stretch/>
        </p:blipFill>
        <p:spPr>
          <a:xfrm>
            <a:off x="7929650" y="1582025"/>
            <a:ext cx="4000500" cy="3554650"/>
          </a:xfrm>
          <a:prstGeom prst="rect">
            <a:avLst/>
          </a:prstGeom>
          <a:noFill/>
          <a:ln>
            <a:noFill/>
          </a:ln>
        </p:spPr>
      </p:pic>
      <p:sp>
        <p:nvSpPr>
          <p:cNvPr id="178" name="Google Shape;178;g3ae7f301830_1_77"/>
          <p:cNvSpPr txBox="1"/>
          <p:nvPr/>
        </p:nvSpPr>
        <p:spPr>
          <a:xfrm>
            <a:off x="2204050" y="264125"/>
            <a:ext cx="79296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400">
                <a:solidFill>
                  <a:srgbClr val="7030A0"/>
                </a:solidFill>
                <a:latin typeface="Times New Roman"/>
                <a:ea typeface="Times New Roman"/>
                <a:cs typeface="Times New Roman"/>
                <a:sym typeface="Times New Roman"/>
              </a:rPr>
              <a:t>Methodology</a:t>
            </a:r>
            <a:endParaRPr b="1" sz="44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(Processing Layer)</a:t>
            </a:r>
            <a:endParaRPr b="1">
              <a:solidFill>
                <a:srgbClr val="7030A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ae7f301830_1_86"/>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4" name="Google Shape;184;g3ae7f301830_1_86"/>
          <p:cNvPicPr preferRelativeResize="0"/>
          <p:nvPr/>
        </p:nvPicPr>
        <p:blipFill rotWithShape="1">
          <a:blip r:embed="rId3">
            <a:alphaModFix/>
          </a:blip>
          <a:srcRect b="18086" l="0" r="0" t="0"/>
          <a:stretch/>
        </p:blipFill>
        <p:spPr>
          <a:xfrm>
            <a:off x="1345175" y="1968975"/>
            <a:ext cx="3281475" cy="3688951"/>
          </a:xfrm>
          <a:prstGeom prst="rect">
            <a:avLst/>
          </a:prstGeom>
          <a:noFill/>
          <a:ln>
            <a:noFill/>
          </a:ln>
        </p:spPr>
      </p:pic>
      <p:pic>
        <p:nvPicPr>
          <p:cNvPr id="185" name="Google Shape;185;g3ae7f301830_1_86"/>
          <p:cNvPicPr preferRelativeResize="0"/>
          <p:nvPr/>
        </p:nvPicPr>
        <p:blipFill rotWithShape="1">
          <a:blip r:embed="rId4">
            <a:alphaModFix/>
          </a:blip>
          <a:srcRect b="14354" l="0" r="0" t="0"/>
          <a:stretch/>
        </p:blipFill>
        <p:spPr>
          <a:xfrm>
            <a:off x="7176775" y="1968975"/>
            <a:ext cx="3415326" cy="3575800"/>
          </a:xfrm>
          <a:prstGeom prst="rect">
            <a:avLst/>
          </a:prstGeom>
          <a:noFill/>
          <a:ln>
            <a:noFill/>
          </a:ln>
        </p:spPr>
      </p:pic>
      <p:sp>
        <p:nvSpPr>
          <p:cNvPr id="186" name="Google Shape;186;g3ae7f301830_1_86"/>
          <p:cNvSpPr txBox="1"/>
          <p:nvPr/>
        </p:nvSpPr>
        <p:spPr>
          <a:xfrm>
            <a:off x="455375" y="337000"/>
            <a:ext cx="111270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800">
                <a:solidFill>
                  <a:srgbClr val="7030A0"/>
                </a:solidFill>
                <a:latin typeface="Times New Roman"/>
                <a:ea typeface="Times New Roman"/>
                <a:cs typeface="Times New Roman"/>
                <a:sym typeface="Times New Roman"/>
              </a:rPr>
              <a:t>Methodology</a:t>
            </a:r>
            <a:endParaRPr b="1" sz="38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(Knowledge and Decision Layer)</a:t>
            </a:r>
            <a:endParaRPr b="1">
              <a:solidFill>
                <a:srgbClr val="7030A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ae7f301830_1_103"/>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2" name="Google Shape;192;g3ae7f301830_1_103"/>
          <p:cNvPicPr preferRelativeResize="0"/>
          <p:nvPr/>
        </p:nvPicPr>
        <p:blipFill rotWithShape="1">
          <a:blip r:embed="rId3">
            <a:alphaModFix/>
          </a:blip>
          <a:srcRect b="18520" l="0" r="0" t="0"/>
          <a:stretch/>
        </p:blipFill>
        <p:spPr>
          <a:xfrm>
            <a:off x="1491225" y="1430025"/>
            <a:ext cx="3845825" cy="3997950"/>
          </a:xfrm>
          <a:prstGeom prst="rect">
            <a:avLst/>
          </a:prstGeom>
          <a:noFill/>
          <a:ln>
            <a:noFill/>
          </a:ln>
        </p:spPr>
      </p:pic>
      <p:pic>
        <p:nvPicPr>
          <p:cNvPr id="193" name="Google Shape;193;g3ae7f301830_1_103"/>
          <p:cNvPicPr preferRelativeResize="0"/>
          <p:nvPr/>
        </p:nvPicPr>
        <p:blipFill rotWithShape="1">
          <a:blip r:embed="rId4">
            <a:alphaModFix/>
          </a:blip>
          <a:srcRect b="15081" l="0" r="0" t="0"/>
          <a:stretch/>
        </p:blipFill>
        <p:spPr>
          <a:xfrm>
            <a:off x="6626500" y="1430013"/>
            <a:ext cx="3273450" cy="3948825"/>
          </a:xfrm>
          <a:prstGeom prst="rect">
            <a:avLst/>
          </a:prstGeom>
          <a:noFill/>
          <a:ln>
            <a:noFill/>
          </a:ln>
        </p:spPr>
      </p:pic>
      <p:sp>
        <p:nvSpPr>
          <p:cNvPr id="194" name="Google Shape;194;g3ae7f301830_1_103"/>
          <p:cNvSpPr txBox="1"/>
          <p:nvPr/>
        </p:nvSpPr>
        <p:spPr>
          <a:xfrm>
            <a:off x="891000" y="346075"/>
            <a:ext cx="96450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400">
                <a:solidFill>
                  <a:srgbClr val="7030A0"/>
                </a:solidFill>
                <a:latin typeface="Times New Roman"/>
                <a:ea typeface="Times New Roman"/>
                <a:cs typeface="Times New Roman"/>
                <a:sym typeface="Times New Roman"/>
              </a:rPr>
              <a:t>Methodology</a:t>
            </a:r>
            <a:endParaRPr b="1" sz="44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(Output Layer)</a:t>
            </a:r>
            <a:endParaRPr b="1">
              <a:solidFill>
                <a:srgbClr val="7030A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7"/>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0" name="Google Shape;200;p7" title="diagram-export-12-9-2025-6_19_25-PM.png"/>
          <p:cNvPicPr preferRelativeResize="0"/>
          <p:nvPr/>
        </p:nvPicPr>
        <p:blipFill rotWithShape="1">
          <a:blip r:embed="rId3">
            <a:alphaModFix/>
          </a:blip>
          <a:srcRect b="11917" l="0" r="0" t="1845"/>
          <a:stretch/>
        </p:blipFill>
        <p:spPr>
          <a:xfrm>
            <a:off x="1703463" y="992725"/>
            <a:ext cx="8657575" cy="5218625"/>
          </a:xfrm>
          <a:prstGeom prst="rect">
            <a:avLst/>
          </a:prstGeom>
          <a:noFill/>
          <a:ln>
            <a:noFill/>
          </a:ln>
        </p:spPr>
      </p:pic>
      <p:sp>
        <p:nvSpPr>
          <p:cNvPr id="201" name="Google Shape;201;p7"/>
          <p:cNvSpPr txBox="1"/>
          <p:nvPr/>
        </p:nvSpPr>
        <p:spPr>
          <a:xfrm>
            <a:off x="573775" y="72850"/>
            <a:ext cx="110088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4400">
                <a:solidFill>
                  <a:srgbClr val="7030A0"/>
                </a:solidFill>
                <a:latin typeface="Times New Roman"/>
                <a:ea typeface="Times New Roman"/>
                <a:cs typeface="Times New Roman"/>
                <a:sym typeface="Times New Roman"/>
              </a:rPr>
              <a:t>Methodology</a:t>
            </a:r>
            <a:endParaRPr b="1" sz="4400">
              <a:solidFill>
                <a:srgbClr val="7030A0"/>
              </a:solidFill>
              <a:latin typeface="Times New Roman"/>
              <a:ea typeface="Times New Roman"/>
              <a:cs typeface="Times New Roman"/>
              <a:sym typeface="Times New Roman"/>
            </a:endParaRPr>
          </a:p>
          <a:p>
            <a:pPr indent="0" lvl="0" marL="0" rtl="0" algn="ctr">
              <a:spcBef>
                <a:spcPts val="0"/>
              </a:spcBef>
              <a:spcAft>
                <a:spcPts val="0"/>
              </a:spcAft>
              <a:buNone/>
            </a:pPr>
            <a:r>
              <a:rPr b="1" lang="en-US">
                <a:solidFill>
                  <a:srgbClr val="7030A0"/>
                </a:solidFill>
                <a:latin typeface="Times New Roman"/>
                <a:ea typeface="Times New Roman"/>
                <a:cs typeface="Times New Roman"/>
                <a:sym typeface="Times New Roman"/>
              </a:rPr>
              <a:t>(System Architecture Overview)</a:t>
            </a:r>
            <a:endParaRPr sz="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ae7f301830_1_5"/>
          <p:cNvSpPr txBox="1"/>
          <p:nvPr>
            <p:ph type="title"/>
          </p:nvPr>
        </p:nvSpPr>
        <p:spPr>
          <a:xfrm>
            <a:off x="1981200" y="67388"/>
            <a:ext cx="8229600" cy="868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7030A0"/>
              </a:buClr>
              <a:buSzPct val="100000"/>
              <a:buFont typeface="Times New Roman"/>
              <a:buNone/>
            </a:pPr>
            <a:r>
              <a:rPr lang="en-US">
                <a:solidFill>
                  <a:srgbClr val="7030A0"/>
                </a:solidFill>
                <a:latin typeface="Times New Roman"/>
                <a:ea typeface="Times New Roman"/>
                <a:cs typeface="Times New Roman"/>
                <a:sym typeface="Times New Roman"/>
              </a:rPr>
              <a:t>Methodology</a:t>
            </a:r>
            <a:endParaRPr>
              <a:solidFill>
                <a:srgbClr val="7030A0"/>
              </a:solidFill>
              <a:latin typeface="Times New Roman"/>
              <a:ea typeface="Times New Roman"/>
              <a:cs typeface="Times New Roman"/>
              <a:sym typeface="Times New Roman"/>
            </a:endParaRPr>
          </a:p>
          <a:p>
            <a:pPr indent="0" lvl="0" marL="0" rtl="0" algn="ctr">
              <a:spcBef>
                <a:spcPts val="0"/>
              </a:spcBef>
              <a:spcAft>
                <a:spcPts val="0"/>
              </a:spcAft>
              <a:buClr>
                <a:srgbClr val="7030A0"/>
              </a:buClr>
              <a:buSzPct val="283870"/>
              <a:buFont typeface="Times New Roman"/>
              <a:buNone/>
            </a:pPr>
            <a:r>
              <a:rPr lang="en-US" sz="1550">
                <a:solidFill>
                  <a:srgbClr val="7030A0"/>
                </a:solidFill>
                <a:latin typeface="Times New Roman"/>
                <a:ea typeface="Times New Roman"/>
                <a:cs typeface="Times New Roman"/>
                <a:sym typeface="Times New Roman"/>
              </a:rPr>
              <a:t>(Data Flow Overview)</a:t>
            </a:r>
            <a:endParaRPr sz="1550">
              <a:solidFill>
                <a:srgbClr val="7030A0"/>
              </a:solidFill>
            </a:endParaRPr>
          </a:p>
        </p:txBody>
      </p:sp>
      <p:sp>
        <p:nvSpPr>
          <p:cNvPr id="207" name="Google Shape;207;g3ae7f301830_1_5"/>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8" name="Google Shape;208;g3ae7f301830_1_5" title="diagram-export-12-7-2025-10_11_47-PM.png"/>
          <p:cNvPicPr preferRelativeResize="0"/>
          <p:nvPr/>
        </p:nvPicPr>
        <p:blipFill rotWithShape="1">
          <a:blip r:embed="rId3">
            <a:alphaModFix/>
          </a:blip>
          <a:srcRect b="13164" l="30454" r="0" t="0"/>
          <a:stretch/>
        </p:blipFill>
        <p:spPr>
          <a:xfrm>
            <a:off x="3001000" y="935900"/>
            <a:ext cx="6617984" cy="5540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Result and Analysis</a:t>
            </a:r>
            <a:endParaRPr>
              <a:solidFill>
                <a:srgbClr val="7030A0"/>
              </a:solidFill>
            </a:endParaRPr>
          </a:p>
        </p:txBody>
      </p:sp>
      <p:sp>
        <p:nvSpPr>
          <p:cNvPr id="214" name="Google Shape;214;p8"/>
          <p:cNvSpPr txBox="1"/>
          <p:nvPr>
            <p:ph idx="1" type="body"/>
          </p:nvPr>
        </p:nvSpPr>
        <p:spPr>
          <a:xfrm>
            <a:off x="609600" y="1202200"/>
            <a:ext cx="5344200" cy="4945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None/>
            </a:pPr>
            <a:r>
              <a:rPr b="1" lang="en-US" sz="1700">
                <a:solidFill>
                  <a:schemeClr val="dk1"/>
                </a:solidFill>
                <a:latin typeface="Times New Roman"/>
                <a:ea typeface="Times New Roman"/>
                <a:cs typeface="Times New Roman"/>
                <a:sym typeface="Times New Roman"/>
              </a:rPr>
              <a:t>Resume Screening Results</a:t>
            </a:r>
            <a:endParaRPr b="1" sz="17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Accuracy: 86% (vs Keyword 62%, Single-LLM 78%</a:t>
            </a:r>
            <a:r>
              <a:rPr lang="en-US"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Precision: 0.84</a:t>
            </a:r>
            <a:r>
              <a:rPr lang="en-US"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Recall: 0.86</a:t>
            </a:r>
            <a:r>
              <a:rPr lang="en-US"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F1-Score: 0.85</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System Efficiency</a:t>
            </a:r>
            <a:endParaRPr b="1" sz="17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Avg. Screening Time: 22.6 sec / resume (60% faster than manual),</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Early Rejection Processing: 18–22 sec,</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Interview Latency: &lt;100 ms,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1000"/>
              </a:spcAft>
              <a:buClr>
                <a:schemeClr val="dk1"/>
              </a:buClr>
              <a:buSzPts val="1400"/>
              <a:buFont typeface="Times New Roman"/>
              <a:buChar char="•"/>
            </a:pPr>
            <a:r>
              <a:rPr lang="en-US" sz="1400">
                <a:solidFill>
                  <a:schemeClr val="dk1"/>
                </a:solidFill>
                <a:latin typeface="Times New Roman"/>
                <a:ea typeface="Times New Roman"/>
                <a:cs typeface="Times New Roman"/>
                <a:sym typeface="Times New Roman"/>
              </a:rPr>
              <a:t>Dashboard Response: 1.8–2.1 sec</a:t>
            </a:r>
            <a:endParaRPr sz="1800">
              <a:solidFill>
                <a:schemeClr val="dk1"/>
              </a:solidFill>
              <a:latin typeface="Times New Roman"/>
              <a:ea typeface="Times New Roman"/>
              <a:cs typeface="Times New Roman"/>
              <a:sym typeface="Times New Roman"/>
            </a:endParaRPr>
          </a:p>
        </p:txBody>
      </p:sp>
      <p:sp>
        <p:nvSpPr>
          <p:cNvPr id="215" name="Google Shape;215;p8"/>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8"/>
          <p:cNvSpPr txBox="1"/>
          <p:nvPr/>
        </p:nvSpPr>
        <p:spPr>
          <a:xfrm>
            <a:off x="6330150" y="1143000"/>
            <a:ext cx="5344200" cy="490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chemeClr val="dk1"/>
                </a:solidFill>
                <a:latin typeface="Times New Roman"/>
                <a:ea typeface="Times New Roman"/>
                <a:cs typeface="Times New Roman"/>
                <a:sym typeface="Times New Roman"/>
              </a:rPr>
              <a:t>Interview Integrity Accuracy</a:t>
            </a:r>
            <a:endParaRPr b="1" sz="17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MediaPipe (Face &amp; Pose): 96% ,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OpenCV Motion Detection: 93%,</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OCR Content Detection: 92% ,</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Vision Model (Scene Analysis): 97%,</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Consensus Accuracy: 95–100%,</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100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False Positives: &lt;5%</a:t>
            </a:r>
            <a:endParaRPr b="1" sz="1700">
              <a:solidFill>
                <a:schemeClr val="dk1"/>
              </a:solidFill>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rPr b="1" lang="en-US" sz="1700">
                <a:solidFill>
                  <a:schemeClr val="dk1"/>
                </a:solidFill>
                <a:latin typeface="Times New Roman"/>
                <a:ea typeface="Times New Roman"/>
                <a:cs typeface="Times New Roman"/>
                <a:sym typeface="Times New Roman"/>
              </a:rPr>
              <a:t>Job Matching Results</a:t>
            </a:r>
            <a:endParaRPr b="1" sz="17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Semantic Accuracy: 88% (vs Keyword 61%, Embedding-only 77%)</a:t>
            </a:r>
            <a:endParaRPr b="1" sz="17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ae7f301830_1_48"/>
          <p:cNvSpPr txBox="1"/>
          <p:nvPr>
            <p:ph type="title"/>
          </p:nvPr>
        </p:nvSpPr>
        <p:spPr>
          <a:xfrm>
            <a:off x="1981200" y="274638"/>
            <a:ext cx="8229600" cy="868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Analysis</a:t>
            </a:r>
            <a:endParaRPr>
              <a:solidFill>
                <a:srgbClr val="7030A0"/>
              </a:solidFill>
            </a:endParaRPr>
          </a:p>
        </p:txBody>
      </p:sp>
      <p:sp>
        <p:nvSpPr>
          <p:cNvPr id="222" name="Google Shape;222;g3ae7f301830_1_48"/>
          <p:cNvSpPr txBox="1"/>
          <p:nvPr>
            <p:ph idx="1" type="body"/>
          </p:nvPr>
        </p:nvSpPr>
        <p:spPr>
          <a:xfrm>
            <a:off x="718875" y="1530075"/>
            <a:ext cx="10972800" cy="4153200"/>
          </a:xfrm>
          <a:prstGeom prst="rect">
            <a:avLst/>
          </a:prstGeom>
          <a:noFill/>
          <a:ln>
            <a:noFill/>
          </a:ln>
        </p:spPr>
        <p:txBody>
          <a:bodyPr anchorCtr="0" anchor="t" bIns="45700" lIns="91425" spcFirstLastPara="1" rIns="91425" wrap="square" tIns="45700">
            <a:noAutofit/>
          </a:bodyPr>
          <a:lstStyle/>
          <a:p>
            <a:pPr indent="-336550" lvl="0" marL="457200" rtl="0" algn="l">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Results confirm that EthosAgentAI significantly outperforms traditional keyword-based and single-model systems in both screening and matching accuracy.</a:t>
            </a:r>
            <a:br>
              <a:rPr lang="en-US"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High interview integrity accuracy with low false positives proves the reliability of the hybrid computer vision framework.</a:t>
            </a:r>
            <a:br>
              <a:rPr lang="en-US"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System efficiency improvements and low latency demonstrate practical real-world deployment feasibility.</a:t>
            </a:r>
            <a:endParaRPr sz="1700">
              <a:solidFill>
                <a:schemeClr val="dk1"/>
              </a:solidFill>
              <a:latin typeface="Times New Roman"/>
              <a:ea typeface="Times New Roman"/>
              <a:cs typeface="Times New Roman"/>
              <a:sym typeface="Times New Roman"/>
            </a:endParaRPr>
          </a:p>
          <a:p>
            <a:pPr indent="-336550" lvl="0" marL="457200" rtl="0" algn="l">
              <a:lnSpc>
                <a:spcPct val="115000"/>
              </a:lnSpc>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Additionally, the platform supports personalized learning paths, enabling continuous skill development and adaptive feedback for candidates, further enhancing engagement and long-term growth.</a:t>
            </a:r>
            <a:br>
              <a:rPr lang="en-US" sz="1700">
                <a:solidFill>
                  <a:schemeClr val="dk1"/>
                </a:solidFill>
                <a:latin typeface="Times New Roman"/>
                <a:ea typeface="Times New Roman"/>
                <a:cs typeface="Times New Roman"/>
                <a:sym typeface="Times New Roman"/>
              </a:rPr>
            </a:br>
            <a:endParaRPr sz="1700">
              <a:solidFill>
                <a:schemeClr val="dk1"/>
              </a:solidFill>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Higher consistency, explainability, and bias resistance than human recruitment establish EthosAgentAI as a trustworthy ethical hiring system.</a:t>
            </a:r>
            <a:endParaRPr sz="17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223" name="Google Shape;223;g3ae7f301830_1_48"/>
          <p:cNvSpPr txBox="1"/>
          <p:nvPr>
            <p:ph idx="12" type="sldNum"/>
          </p:nvPr>
        </p:nvSpPr>
        <p:spPr>
          <a:xfrm>
            <a:off x="8737600" y="6356351"/>
            <a:ext cx="2844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9"/>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Novelty of the Work</a:t>
            </a:r>
            <a:endParaRPr/>
          </a:p>
        </p:txBody>
      </p:sp>
      <p:sp>
        <p:nvSpPr>
          <p:cNvPr id="229" name="Google Shape;229;p9"/>
          <p:cNvSpPr txBox="1"/>
          <p:nvPr>
            <p:ph idx="1" type="body"/>
          </p:nvPr>
        </p:nvSpPr>
        <p:spPr>
          <a:xfrm>
            <a:off x="609600" y="1567100"/>
            <a:ext cx="10972800" cy="3962400"/>
          </a:xfrm>
          <a:prstGeom prst="rect">
            <a:avLst/>
          </a:prstGeom>
          <a:noFill/>
          <a:ln>
            <a:noFill/>
          </a:ln>
        </p:spPr>
        <p:txBody>
          <a:bodyPr anchorCtr="0" anchor="t" bIns="45700" lIns="91425" spcFirstLastPara="1" rIns="91425" wrap="square" tIns="45700">
            <a:normAutofit/>
          </a:bodyPr>
          <a:lstStyle/>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Architectural: Integrates screening, matching, skills assessment, integrity checks, and guidance in a five-layer pipeline with hybrid cloud-local fallback.</a:t>
            </a:r>
            <a:endParaRPr sz="17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Algorithmic: Consensus-based CV, role-adaptive scoring, sequential rejection for efficiency.</a:t>
            </a:r>
            <a:endParaRPr sz="17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Methodological: First use of RAG in recruitment, LangGraph multi-agent coordination, explanation-first assessment.</a:t>
            </a:r>
            <a:endParaRPr sz="17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Social/Ethical: Fairness-by-design, dual-sided support (candidates/recruiters), direct SDG 8 &amp; 9 alignment.</a:t>
            </a:r>
            <a:endParaRPr sz="17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Advances State-of-the-Art: Overcomes fragmentation in existing tools; Medium familiarity blending established (NLP, APIs) and novel (end-to-end fusion, behavioral consensus) elements.</a:t>
            </a:r>
            <a:endParaRPr sz="17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Impact: Reduces bias, enhances reproducibility; Promising for future responsible AI systems.</a:t>
            </a:r>
            <a:endParaRPr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
        <p:nvSpPr>
          <p:cNvPr id="230" name="Google Shape;230;p9"/>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0"/>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Conclusion</a:t>
            </a:r>
            <a:endParaRPr>
              <a:solidFill>
                <a:srgbClr val="7030A0"/>
              </a:solidFill>
            </a:endParaRPr>
          </a:p>
        </p:txBody>
      </p:sp>
      <p:sp>
        <p:nvSpPr>
          <p:cNvPr id="236" name="Google Shape;236;p10"/>
          <p:cNvSpPr txBox="1"/>
          <p:nvPr>
            <p:ph idx="1" type="body"/>
          </p:nvPr>
        </p:nvSpPr>
        <p:spPr>
          <a:xfrm>
            <a:off x="533400" y="1143000"/>
            <a:ext cx="11049000" cy="50592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2200"/>
              <a:buNone/>
            </a:pPr>
            <a:r>
              <a:rPr lang="en-US" sz="1700">
                <a:solidFill>
                  <a:schemeClr val="dk1"/>
                </a:solidFill>
                <a:latin typeface="Times New Roman"/>
                <a:ea typeface="Times New Roman"/>
                <a:cs typeface="Times New Roman"/>
                <a:sym typeface="Times New Roman"/>
              </a:rPr>
              <a:t>EthosAgentAI is a personalized, multi-agent AI ecosystem that enhances hiring efficiency, equity, and transparency using advanced NLP, RAG, and hybrid computer vision. It achieves 86% resume screening accuracy, 95–100% interview integrity, and 88% semantic job matching. The platform uniquely delivers personalized skill-gap analysis, curated learning roadmaps, and an intelligent career-assistant chatbot, empowering candidates end to end. It advances SDG 8 by democratizing fair hiring and personalized career support, and supports SDG 9 through scalable, ethical AI innovation shifting recruitment from automation to lifelong personalized career intelligence.</a:t>
            </a:r>
            <a:endParaRPr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2200"/>
              <a:buNone/>
            </a:pPr>
            <a:r>
              <a:t/>
            </a:r>
            <a:endParaRPr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2200"/>
              <a:buNone/>
            </a:pPr>
            <a:r>
              <a:rPr b="1" lang="en-US" sz="1700">
                <a:solidFill>
                  <a:schemeClr val="dk1"/>
                </a:solidFill>
                <a:latin typeface="Times New Roman"/>
                <a:ea typeface="Times New Roman"/>
                <a:cs typeface="Times New Roman"/>
                <a:sym typeface="Times New Roman"/>
              </a:rPr>
              <a:t>Future Work:</a:t>
            </a:r>
            <a:endParaRPr b="1" sz="17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None/>
            </a:pPr>
            <a:r>
              <a:rPr lang="en-US" sz="1700">
                <a:solidFill>
                  <a:schemeClr val="dk1"/>
                </a:solidFill>
                <a:latin typeface="Times New Roman"/>
                <a:ea typeface="Times New Roman"/>
                <a:cs typeface="Times New Roman"/>
                <a:sym typeface="Times New Roman"/>
              </a:rPr>
              <a:t>Future enhancements include multimodal evaluation (text, visual, behavioral), predictive career trajectory modeling, and stronger bias mitigation with responsible AI alignment. Integration into the Daffodil Career Hub and nationwide rollout will enable large-scale, ethical deployment, making hiring and career development smarter, fairer, and more personalized.</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t/>
            </a:r>
            <a:endParaRPr sz="1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Clr>
                <a:schemeClr val="dk1"/>
              </a:buClr>
              <a:buSzPts val="2200"/>
              <a:buNone/>
            </a:pPr>
            <a:r>
              <a:t/>
            </a:r>
            <a:endParaRPr sz="1700">
              <a:solidFill>
                <a:schemeClr val="dk1"/>
              </a:solidFill>
              <a:latin typeface="Times New Roman"/>
              <a:ea typeface="Times New Roman"/>
              <a:cs typeface="Times New Roman"/>
              <a:sym typeface="Times New Roman"/>
            </a:endParaRPr>
          </a:p>
        </p:txBody>
      </p:sp>
      <p:sp>
        <p:nvSpPr>
          <p:cNvPr id="237" name="Google Shape;237;p1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1"/>
          <p:cNvSpPr txBox="1"/>
          <p:nvPr>
            <p:ph type="title"/>
          </p:nvPr>
        </p:nvSpPr>
        <p:spPr>
          <a:xfrm>
            <a:off x="1981200" y="274638"/>
            <a:ext cx="8229600" cy="868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7030A0"/>
              </a:buClr>
              <a:buSzPts val="4400"/>
              <a:buFont typeface="Times New Roman"/>
              <a:buNone/>
            </a:pPr>
            <a:r>
              <a:rPr lang="en-US">
                <a:solidFill>
                  <a:srgbClr val="7030A0"/>
                </a:solidFill>
                <a:latin typeface="Times New Roman"/>
                <a:ea typeface="Times New Roman"/>
                <a:cs typeface="Times New Roman"/>
                <a:sym typeface="Times New Roman"/>
              </a:rPr>
              <a:t>References</a:t>
            </a:r>
            <a:endParaRPr>
              <a:solidFill>
                <a:srgbClr val="7030A0"/>
              </a:solidFill>
            </a:endParaRPr>
          </a:p>
        </p:txBody>
      </p:sp>
      <p:sp>
        <p:nvSpPr>
          <p:cNvPr id="243" name="Google Shape;243;p11"/>
          <p:cNvSpPr txBox="1"/>
          <p:nvPr>
            <p:ph idx="1" type="body"/>
          </p:nvPr>
        </p:nvSpPr>
        <p:spPr>
          <a:xfrm>
            <a:off x="533400" y="1676400"/>
            <a:ext cx="11049000" cy="39624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[1] F. Cai, J. Zhang, and L. Zhang, "The impact of artificial intelligence replacing humans in making human resource management decisions on fairness: A case of resume screening," </a:t>
            </a:r>
            <a:r>
              <a:rPr i="1" lang="en-US" sz="1700">
                <a:solidFill>
                  <a:schemeClr val="dk1"/>
                </a:solidFill>
                <a:latin typeface="Times New Roman"/>
                <a:ea typeface="Times New Roman"/>
                <a:cs typeface="Times New Roman"/>
                <a:sym typeface="Times New Roman"/>
              </a:rPr>
              <a:t>Sustainability</a:t>
            </a:r>
            <a:r>
              <a:rPr lang="en-US" sz="1700">
                <a:solidFill>
                  <a:schemeClr val="dk1"/>
                </a:solidFill>
                <a:latin typeface="Times New Roman"/>
                <a:ea typeface="Times New Roman"/>
                <a:cs typeface="Times New Roman"/>
                <a:sym typeface="Times New Roman"/>
              </a:rPr>
              <a:t>, vol. 16, no. 9, p. 3840, 2024.</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[2] A. Lacroux and C. Martin-Lacroux, "Should I trust the artificial intelligence to recruit? Recruiters’ perceptions and behavior when faced with algorithm-based recommendation systems during resume screening," </a:t>
            </a:r>
            <a:r>
              <a:rPr i="1" lang="en-US" sz="1700">
                <a:solidFill>
                  <a:schemeClr val="dk1"/>
                </a:solidFill>
                <a:latin typeface="Times New Roman"/>
                <a:ea typeface="Times New Roman"/>
                <a:cs typeface="Times New Roman"/>
                <a:sym typeface="Times New Roman"/>
              </a:rPr>
              <a:t>Frontiers in Psychology</a:t>
            </a:r>
            <a:r>
              <a:rPr lang="en-US" sz="1700">
                <a:solidFill>
                  <a:schemeClr val="dk1"/>
                </a:solidFill>
                <a:latin typeface="Times New Roman"/>
                <a:ea typeface="Times New Roman"/>
                <a:cs typeface="Times New Roman"/>
                <a:sym typeface="Times New Roman"/>
              </a:rPr>
              <a:t>, vol. 13, p. 895997, 2022.</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[3] C. Harris, "Mitigating age biases in resume screening AI models," in </a:t>
            </a:r>
            <a:r>
              <a:rPr i="1" lang="en-US" sz="1700">
                <a:solidFill>
                  <a:schemeClr val="dk1"/>
                </a:solidFill>
                <a:latin typeface="Times New Roman"/>
                <a:ea typeface="Times New Roman"/>
                <a:cs typeface="Times New Roman"/>
                <a:sym typeface="Times New Roman"/>
              </a:rPr>
              <a:t>The International FLAIRS Conference Proceedings</a:t>
            </a:r>
            <a:r>
              <a:rPr lang="en-US" sz="1700">
                <a:solidFill>
                  <a:schemeClr val="dk1"/>
                </a:solidFill>
                <a:latin typeface="Times New Roman"/>
                <a:ea typeface="Times New Roman"/>
                <a:cs typeface="Times New Roman"/>
                <a:sym typeface="Times New Roman"/>
              </a:rPr>
              <a:t>, vol. 36, May 2023.</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[4] F. P. W. Lo, J. Qiu, Z. Wang, H. Yu, Y. Chen, G. Zhang, and B. Lo, "AI hiring with LLMs: A context-aware and explainable multi-agent framework for resume screening," in </a:t>
            </a:r>
            <a:r>
              <a:rPr i="1" lang="en-US" sz="1700">
                <a:solidFill>
                  <a:schemeClr val="dk1"/>
                </a:solidFill>
                <a:latin typeface="Times New Roman"/>
                <a:ea typeface="Times New Roman"/>
                <a:cs typeface="Times New Roman"/>
                <a:sym typeface="Times New Roman"/>
              </a:rPr>
              <a:t>Proceedings of the Computer Vision and Pattern Recognition Conference</a:t>
            </a:r>
            <a:r>
              <a:rPr lang="en-US" sz="1700">
                <a:solidFill>
                  <a:schemeClr val="dk1"/>
                </a:solidFill>
                <a:latin typeface="Times New Roman"/>
                <a:ea typeface="Times New Roman"/>
                <a:cs typeface="Times New Roman"/>
                <a:sym typeface="Times New Roman"/>
              </a:rPr>
              <a:t>, pp. 4184-4193, 2025.</a:t>
            </a:r>
            <a:endParaRPr sz="17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700">
                <a:solidFill>
                  <a:schemeClr val="dk1"/>
                </a:solidFill>
                <a:latin typeface="Times New Roman"/>
                <a:ea typeface="Times New Roman"/>
                <a:cs typeface="Times New Roman"/>
                <a:sym typeface="Times New Roman"/>
              </a:rPr>
              <a:t>[5] P. W. Frank, Z. Wang, H. Yu, Y. Chen, G. Zhang, and B. Lo, "AI Hiring with LLMs: A Context-Aware and Explainable Multi-Agent Framework for Resume Screening," 2025.</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rgbClr val="366092"/>
              </a:buClr>
              <a:buSzPts val="2200"/>
              <a:buNone/>
            </a:pPr>
            <a:r>
              <a:t/>
            </a:r>
            <a:endParaRPr sz="1700">
              <a:solidFill>
                <a:schemeClr val="dk1"/>
              </a:solidFill>
              <a:latin typeface="Times New Roman"/>
              <a:ea typeface="Times New Roman"/>
              <a:cs typeface="Times New Roman"/>
              <a:sym typeface="Times New Roman"/>
            </a:endParaRPr>
          </a:p>
        </p:txBody>
      </p:sp>
      <p:sp>
        <p:nvSpPr>
          <p:cNvPr id="244" name="Google Shape;244;p1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txBox="1"/>
          <p:nvPr>
            <p:ph idx="1" type="body"/>
          </p:nvPr>
        </p:nvSpPr>
        <p:spPr>
          <a:xfrm>
            <a:off x="609600" y="1676400"/>
            <a:ext cx="10972800" cy="3962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366092"/>
              </a:buClr>
              <a:buSzPts val="6000"/>
              <a:buNone/>
            </a:pPr>
            <a:r>
              <a:t/>
            </a:r>
            <a:endParaRPr b="1" sz="6000">
              <a:solidFill>
                <a:srgbClr val="7030A0"/>
              </a:solidFill>
              <a:latin typeface="Times New Roman"/>
              <a:ea typeface="Times New Roman"/>
              <a:cs typeface="Times New Roman"/>
              <a:sym typeface="Times New Roman"/>
            </a:endParaRPr>
          </a:p>
          <a:p>
            <a:pPr indent="0" lvl="0" marL="0" rtl="0" algn="ctr">
              <a:spcBef>
                <a:spcPts val="1200"/>
              </a:spcBef>
              <a:spcAft>
                <a:spcPts val="0"/>
              </a:spcAft>
              <a:buClr>
                <a:srgbClr val="7030A0"/>
              </a:buClr>
              <a:buSzPts val="6000"/>
              <a:buNone/>
            </a:pPr>
            <a:r>
              <a:rPr b="1" lang="en-US" sz="6000">
                <a:solidFill>
                  <a:srgbClr val="7030A0"/>
                </a:solidFill>
                <a:latin typeface="Times New Roman"/>
                <a:ea typeface="Times New Roman"/>
                <a:cs typeface="Times New Roman"/>
                <a:sym typeface="Times New Roman"/>
              </a:rPr>
              <a:t>THANK YOU</a:t>
            </a:r>
            <a:endParaRPr/>
          </a:p>
          <a:p>
            <a:pPr indent="0" lvl="0" marL="0" rtl="0" algn="r">
              <a:spcBef>
                <a:spcPts val="600"/>
              </a:spcBef>
              <a:spcAft>
                <a:spcPts val="0"/>
              </a:spcAft>
              <a:buClr>
                <a:srgbClr val="366092"/>
              </a:buClr>
              <a:buSzPts val="3000"/>
              <a:buNone/>
            </a:pPr>
            <a:r>
              <a:t/>
            </a:r>
            <a:endParaRPr sz="3000">
              <a:solidFill>
                <a:schemeClr val="dk1"/>
              </a:solidFill>
              <a:latin typeface="Times New Roman"/>
              <a:ea typeface="Times New Roman"/>
              <a:cs typeface="Times New Roman"/>
              <a:sym typeface="Times New Roman"/>
            </a:endParaRPr>
          </a:p>
        </p:txBody>
      </p:sp>
      <p:sp>
        <p:nvSpPr>
          <p:cNvPr id="250" name="Google Shape;250;p1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New Microsoft PowerPoint Presentat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2011-07-17T02:56:35Z</dcterms:created>
  <dc:creator>Valued Acer Customer</dc:creator>
</cp:coreProperties>
</file>